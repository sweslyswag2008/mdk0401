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cbcfee4c-a091-9c2a-16f1-044a0c07aec8}">
          <p14:sldIdLst>
            <p14:sldId id="256"/>
            <p14:sldId id="257"/>
            <p14:sldId id="258"/>
          </p14:sldIdLst>
        </p14:section>
        <p14:section name="Проектирование" id="{65fe7ce1-fd92-9e31-b05e-aadc3bdf2379}">
          <p14:sldIdLst>
            <p14:sldId id="259"/>
            <p14:sldId id="260"/>
          </p14:sldIdLst>
        </p14:section>
        <p14:section name="Реализация" id="{2214da45-7ae4-f662-1131-5c4b7e4437cf}">
          <p14:sldIdLst>
            <p14:sldId id="261"/>
            <p14:sldId id="262"/>
            <p14:sldId id="263"/>
            <p14:sldId id="264"/>
            <p14:sldId id="265"/>
          </p14:sldIdLst>
        </p14:section>
        <p14:section name="Результаты" id="{3ceabd0b-dd27-ddca-cae8-d155b24b1859}">
          <p14:sldIdLst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моей работы — разработка информационной системы учёта книг в библиотеке. Доклад займёт около шести минут: обоснование, проектные решения, демонстрация и результаты.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Библиотека ведёт учёт вручную, из-за чего операции занимают минуты, возможна повторная выдача экземпляра, а задолженность выявляется поздно. Цель работы — заменить этот порядок информационной системой.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достижения цели поставлено шесть задач: от анализа предметной области до тестирования и подготовки документации. Все они выполнены, далее покажу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декомпозирована на пять автономных модулей. Центральным является модуль loans: он связывает издание, читателя и библиотекаря и инициирует изменение статуса экземпляра.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базе данных пять таблиц. Центральная — Loan: она связывает читателя, книгу и сотрудника. Сотрудник дополнительно фиксируется в карточке читателя как лицо, выполнившее регистрацию.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Рабочее место библиотекаря построено на административном интерфейсе Django. Доступ разграничен по ролям: администратор, библиотекарь и заведующий библиотекой.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Каждому экземпляру присвоен инвентарный номер и статус. Статус изменяется только подсистемой книговыдачи, что исключает расхождение учётных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ключевой механизм системы. Логика переходов инкапсулирована в методах модели save, issue, return_book и cancel, поэтому работает одинаково и из административного, и из программного интерфейса. Штраф начисляется из расчёта пяти рублей за сутки просрочки.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Подсистема отчётности формирует показатели агрегирующими запросами. Значения пересчитываются сразу после действий библиотекаря, что подтверждено отдельным тестом.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Доступ к данным организован через программный интерфейс REST. Токен доступа действует восемь часов и обновляется по refresh-токену; запрос без токена отклоняется с кодом 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Тестирование выполнялось двумя способами: вручную через административный интерфейс и автоматически. Отдельные тесты написаны на ситуации, в которых учёт мог бы нарушиться: аннулирование выдачи, повторная выдача занятого экземпляра, расчёт штрафа.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Поставленные задачи выполнены в полном объёме. Система может развиваться: уведомления о сроках возврата, электронный каталог для читателей, штриховые коды и контейнеризация для упрощения развёртывания.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Доклад окончен, благодарю за внимание. Вероятные вопросы: устройство аутентификации JWT, связи между таблицами, порядок каскадного изменения статусов, методика тестирования, порядок развёртывания.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B8860B"/>
          </a:solidFill>
        </p:spPr>
      </p:sp>
      <p:sp>
        <p:nvSpPr>
          <p:cNvPr id="3" name="Shape 1"/>
          <p:cNvSpPr/>
          <p:nvPr/>
        </p:nvSpPr>
        <p:spPr>
          <a:xfrm>
            <a:off x="822960" y="2487168"/>
            <a:ext cx="49377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4" name="Text 2"/>
          <p:cNvSpPr txBox="1"/>
          <p:nvPr>
            <p:ph type="body" idx="102" hasCustomPrompt="1"/>
          </p:nvPr>
        </p:nvSpPr>
        <p:spPr>
          <a:xfrm>
            <a:off x="822960" y="685800"/>
            <a:ext cx="7589520" cy="320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400" kern="0" spc="200" dirty="0">
                <a:solidFill>
                  <a:srgbClr val="C7D3E0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2"/>
          <p:cNvSpPr/>
          <p:nvPr>
            <p:ph type="title" idx="103" hasCustomPrompt="1"/>
          </p:nvPr>
        </p:nvSpPr>
        <p:spPr>
          <a:xfrm>
            <a:off x="822960" y="1143000"/>
            <a:ext cx="7589520" cy="12801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6" name="Text 2"/>
          <p:cNvSpPr txBox="1"/>
          <p:nvPr>
            <p:ph type="body" idx="104" hasCustomPrompt="1"/>
          </p:nvPr>
        </p:nvSpPr>
        <p:spPr>
          <a:xfrm>
            <a:off x="822960" y="2697480"/>
            <a:ext cx="7589520" cy="5486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rgbClr val="C7D3E0"/>
                </a:solidFill>
              </a:defRPr>
            </a:lvl1pPr>
          </a:lstStyle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Text 2"/>
          <p:cNvSpPr txBox="1"/>
          <p:nvPr>
            <p:ph type="body" idx="105" hasCustomPrompt="1"/>
          </p:nvPr>
        </p:nvSpPr>
        <p:spPr>
          <a:xfrm>
            <a:off x="822960" y="3657600"/>
            <a:ext cx="7589520" cy="91440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B8860B"/>
          </a:solidFill>
        </p:spPr>
      </p:sp>
      <p:sp>
        <p:nvSpPr>
          <p:cNvPr id="4" name="Text 2"/>
          <p:cNvSpPr txBox="1"/>
          <p:nvPr/>
        </p:nvSpPr>
        <p:spPr>
          <a:xfrm>
            <a:off x="457200" y="472744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9"/>
                </a:solidFill>
              </a:rPr>
              <a:t>Система учёта книг в библиотеке «Biblioteka»</a:t>
            </a:r>
            <a:endParaRPr lang="en-US" sz="1000" dirty="0"/>
          </a:p>
        </p:txBody>
      </p:sp>
      <p:sp>
        <p:nvSpPr>
          <p:cNvPr id="5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0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/>
          <p:nvPr>
            <p:ph type="body" idx="105" hasCustomPrompt="1"/>
          </p:nvPr>
        </p:nvSpPr>
        <p:spPr>
          <a:xfrm>
            <a:off x="548640" y="914400"/>
            <a:ext cx="8046720" cy="35661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rgbClr val="15202E"/>
                </a:solidFill>
              </a:defRPr>
            </a:lvl1pPr>
          </a:lstStyle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2004"/>
          </a:xfrm>
          <a:prstGeom prst="rect">
            <a:avLst/>
          </a:prstGeom>
          <a:solidFill>
            <a:srgbClr val="B8860B"/>
          </a:solidFill>
        </p:spPr>
      </p:sp>
      <p:sp>
        <p:nvSpPr>
          <p:cNvPr id="4" name="Text 2"/>
          <p:cNvSpPr txBox="1"/>
          <p:nvPr/>
        </p:nvSpPr>
        <p:spPr>
          <a:xfrm>
            <a:off x="457200" y="472744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9"/>
                </a:solidFill>
              </a:rPr>
              <a:t>Система учёта книг в библиотеке «Biblioteka»</a:t>
            </a:r>
            <a:endParaRPr lang="en-US" sz="1000" dirty="0"/>
          </a:p>
        </p:txBody>
      </p:sp>
      <p:sp>
        <p:nvSpPr>
          <p:cNvPr id="5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0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/>
          <p:nvPr>
            <p:ph type="body" idx="105" hasCustomPrompt="1"/>
          </p:nvPr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5B7A99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B8860B"/>
          </a:solidFill>
        </p:spPr>
      </p:sp>
      <p:sp>
        <p:nvSpPr>
          <p:cNvPr id="3" name="Text 1"/>
          <p:cNvSpPr/>
          <p:nvPr>
            <p:ph type="title" idx="101" hasCustomPrompt="1"/>
          </p:nvPr>
        </p:nvSpPr>
        <p:spPr>
          <a:xfrm>
            <a:off x="822960" y="1554480"/>
            <a:ext cx="7589520" cy="10058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Text 1"/>
          <p:cNvSpPr txBox="1"/>
          <p:nvPr>
            <p:ph type="body" idx="102" hasCustomPrompt="1"/>
          </p:nvPr>
        </p:nvSpPr>
        <p:spPr>
          <a:xfrm>
            <a:off x="822960" y="2697480"/>
            <a:ext cx="7589520" cy="1463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7D3E0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02" hasCustomPrompt="1"/>
          </p:nvPr>
        </p:nvSpPr>
        <p:spPr>
          <a:xfrm>
            <a:off x="822960" y="685800"/>
            <a:ext cx="7589520" cy="3200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C7D3E0"/>
                </a:solidFill>
              </a:rPr>
              <a:t>МДК.04.01 · ПРАКТИЧЕСКАЯ РАБОТА № 6</a:t>
            </a:r>
            <a:endParaRPr lang="en-US" sz="1400" dirty="0"/>
          </a:p>
        </p:txBody>
      </p:sp>
      <p:sp>
        <p:nvSpPr>
          <p:cNvPr id="3" name="Text 2"/>
          <p:cNvSpPr/>
          <p:nvPr>
            <p:ph type="title" idx="103" hasCustomPrompt="1"/>
          </p:nvPr>
        </p:nvSpPr>
        <p:spPr>
          <a:xfrm>
            <a:off x="822960" y="1143000"/>
            <a:ext cx="75895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Информационная система учёта книг в библиотеке</a:t>
            </a:r>
            <a:endParaRPr lang="en-US" sz="3400" dirty="0"/>
          </a:p>
        </p:txBody>
      </p:sp>
      <p:sp>
        <p:nvSpPr>
          <p:cNvPr id="4" name="Text 2"/>
          <p:cNvSpPr txBox="1"/>
          <p:nvPr>
            <p:ph type="body" idx="104" hasCustomPrompt="1"/>
          </p:nvPr>
        </p:nvSpPr>
        <p:spPr>
          <a:xfrm>
            <a:off x="822960" y="2697480"/>
            <a:ext cx="758952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700" dirty="0">
                <a:solidFill>
                  <a:srgbClr val="C7D3E0"/>
                </a:solidFill>
              </a:rPr>
              <a:t>Часть 1: веб-приложение. Django 5.1, Django REST Framework, PostgreSQL 16</a:t>
            </a:r>
            <a:endParaRPr lang="en-US" sz="1700" dirty="0"/>
          </a:p>
        </p:txBody>
      </p:sp>
      <p:sp>
        <p:nvSpPr>
          <p:cNvPr id="5" name="Text 2"/>
          <p:cNvSpPr txBox="1"/>
          <p:nvPr>
            <p:ph type="body" idx="105" hasCustomPrompt="1"/>
          </p:nvPr>
        </p:nvSpPr>
        <p:spPr>
          <a:xfrm>
            <a:off x="822960" y="3657600"/>
            <a:ext cx="758952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Выполнил: студент группы ИСП-271 </a:t>
            </a:r>
            <a:r>
              <a:rPr lang="ru-RU" altLang="en-US" sz="1500" dirty="0">
                <a:solidFill>
                  <a:srgbClr val="FFFFFF"/>
                </a:solidFill>
              </a:rPr>
              <a:t>Рзаева Сабина Намиговна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7D3E0"/>
                </a:solidFill>
              </a:rPr>
              <a:t>Руководитель: Левченко Дмитрий Олегович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C7D3E0"/>
                </a:solidFill>
              </a:rPr>
              <a:t>Москва,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Актуальность и цель работы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914400"/>
            <a:ext cx="80467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3A5C"/>
                </a:solidFill>
              </a:rPr>
              <a:t>Проблематика предметной области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учёт в бумажных формулярах требует значительных временны́х затрат;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возможна повторная выдача одного экземпляра;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читательская задолженность выявляется несвоевременно;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отчётность формируется вручную.</a:t>
            </a:r>
            <a:endParaRPr lang="en-US" sz="1700" dirty="0"/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3A5C"/>
                </a:solidFill>
              </a:rPr>
              <a:t>Цель работы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5202E"/>
                </a:solidFill>
              </a:rPr>
              <a:t>Разработка веб-части информационной системы учёта книжного фонда, читателей и операций книговыдачи с последующим тестированием и документированием.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Задачи работы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914400"/>
            <a:ext cx="80467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выполнить анализ предметной области и сформулировать требования к системе;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спроектировать модульную архитектуру и структуру базы данных из пяти отношений;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реализовать модули accounts, catalog, readers, loans и reports с программным интерфейсом REST;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обеспечить аутентификацию на основе токенов JWT и разграничение прав по ролям;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разработать подсистему отчётности и аналитическую панель заведующего библиотекой;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провести тестирование и подготовить эксплуатационную документацию.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Модульная архитектура системы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</a:rPr>
              <a:t>Пять приложений Django: accounts, catalog, readers, loans, reports. Подсистема отчётности выполняет только чтение данных смежных модулей через класс ReportService.</a:t>
            </a:r>
            <a:endParaRPr lang="en-US" sz="1400" dirty="0"/>
          </a:p>
        </p:txBody>
      </p:sp>
      <p:pic>
        <p:nvPicPr>
          <p:cNvPr id="4" name="Image 0" descr="/home/claude/re/px/ppt/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565" y="1481328"/>
            <a:ext cx="5880871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Структура базы данных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</a:rPr>
              <a:t>Пять отношений: User, Author, Book, Reader, Loan. Связь «автор — издания» один ко многим; отношение Loan связывает читателя, издание и библиотекаря.</a:t>
            </a:r>
            <a:endParaRPr lang="en-US" sz="1400" dirty="0"/>
          </a:p>
        </p:txBody>
      </p:sp>
      <p:pic>
        <p:nvPicPr>
          <p:cNvPr id="4" name="Image 0" descr="/home/claude/re/px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482" y="1481328"/>
            <a:ext cx="6003036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Административный интерфейс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</a:rPr>
              <a:t>Ведение учётных записей, авторов, изданий, читателей и выдач. Поддерживаются контекстный поиск и фильтрация в перечнях.</a:t>
            </a:r>
            <a:endParaRPr lang="en-US" sz="1400" dirty="0"/>
          </a:p>
        </p:txBody>
      </p:sp>
      <p:pic>
        <p:nvPicPr>
          <p:cNvPr id="4" name="Image 0" descr="/home/claude/re/px/ppt/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0" y="1481328"/>
            <a:ext cx="52832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Подсистема каталогизации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</a:rPr>
              <a:t>Реквизиты издания: наименование, автор, тематический раздел, место хранения, инвентарный номер. Статус экземпляра: в фонде, забронирована, выдана, списана.</a:t>
            </a:r>
            <a:endParaRPr lang="en-US" sz="1400" dirty="0"/>
          </a:p>
        </p:txBody>
      </p:sp>
      <p:pic>
        <p:nvPicPr>
          <p:cNvPr id="4" name="Image 0" descr="/home/claude/re/px/ppt/media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0" y="1481328"/>
            <a:ext cx="52832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Книговыдача и каскадное изменение статусов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</a:rPr>
              <a:t>Оформление выдачи переводит экземпляр в статус «Забронирована»; выдача — в «Выдана» со сроком возврата 14 суток; приём освобождает экземпляр и инициирует расчёт штрафной санкции.</a:t>
            </a:r>
            <a:endParaRPr lang="en-US" sz="1400" dirty="0"/>
          </a:p>
        </p:txBody>
      </p:sp>
      <p:pic>
        <p:nvPicPr>
          <p:cNvPr id="4" name="Image 0" descr="/home/claude/re/px/ppt/media/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0" y="1481328"/>
            <a:ext cx="52832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Показатели деятельности библиотеки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</a:rPr>
              <a:t>Количество выдач и возвратов, издания на руках, просроченная задолженность, сумма штрафов, свободные экземпляры. Пересчёт выполняется непосредственно после операции.</a:t>
            </a:r>
            <a:endParaRPr lang="en-US" sz="1400" dirty="0"/>
          </a:p>
        </p:txBody>
      </p:sp>
      <p:pic>
        <p:nvPicPr>
          <p:cNvPr id="4" name="Image 0" descr="/home/claude/re/px/ppt/media/imag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81328"/>
            <a:ext cx="7607808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Программный интерфейс REST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</a:rPr>
              <a:t>Эндпоинты /api/books/, /api/readers/, /api/loans/, /api/reports/. Аутентификация по токену: заголовок Authorization: Bearer &lt;access&gt;.</a:t>
            </a:r>
            <a:endParaRPr lang="en-US" sz="1400" dirty="0"/>
          </a:p>
        </p:txBody>
      </p:sp>
      <p:pic>
        <p:nvPicPr>
          <p:cNvPr id="4" name="Image 0" descr="/home/claude/re/px/ppt/media/imag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0" y="1481328"/>
            <a:ext cx="52832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Тестирование системы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A99"/>
                </a:solidFill>
              </a:rPr>
              <a:t>26 автоматических тестов: аутентификация, каталогизация, картотека читателей, книговыдача и каскад статусов, отчётность. Все тесты выполняются успешно.</a:t>
            </a:r>
            <a:endParaRPr lang="en-US" sz="1400" dirty="0"/>
          </a:p>
        </p:txBody>
      </p:sp>
      <p:pic>
        <p:nvPicPr>
          <p:cNvPr id="4" name="Image 0" descr="/home/claude/re/px/ppt/media/imag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48" y="1481328"/>
            <a:ext cx="7625103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7315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Итоги и перспективы развития</a:t>
            </a:r>
            <a:endParaRPr lang="en-US" sz="2000" dirty="0"/>
          </a:p>
        </p:txBody>
      </p:sp>
      <p:sp>
        <p:nvSpPr>
          <p:cNvPr id="3" name="Text 3"/>
          <p:cNvSpPr/>
          <p:nvPr>
            <p:ph type="body" idx="105" hasCustomPrompt="1"/>
          </p:nvPr>
        </p:nvSpPr>
        <p:spPr>
          <a:xfrm>
            <a:off x="548640" y="914400"/>
            <a:ext cx="80467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3A5C"/>
                </a:solidFill>
              </a:rPr>
              <a:t>Достигнутые результаты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пять программных модулей, база данных из пяти отношений, программный интерфейс REST;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бизнес-логика книговыдачи на уровне модели, подтверждённая 26 тестами;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эксплуатационная документация пользователя и разработчика.</a:t>
            </a:r>
            <a:endParaRPr lang="en-US" sz="1700" dirty="0"/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3A5C"/>
                </a:solidFill>
              </a:rPr>
              <a:t>Направления развития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рассылка уведомлений о сроках возврата по электронной почте;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электронный каталог с доступом для читателей;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5202E"/>
                </a:solidFill>
              </a:rPr>
              <a:t>штриховые коды на экземплярах, контейнеризация средствами Docker.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822960" y="1554480"/>
            <a:ext cx="7589520" cy="10058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Благодарю за внимание</a:t>
            </a:r>
            <a:endParaRPr lang="en-US" sz="3600" dirty="0"/>
          </a:p>
        </p:txBody>
      </p:sp>
      <p:sp>
        <p:nvSpPr>
          <p:cNvPr id="3" name="Text 1"/>
          <p:cNvSpPr txBox="1"/>
          <p:nvPr>
            <p:ph type="body" idx="102" hasCustomPrompt="1"/>
          </p:nvPr>
        </p:nvSpPr>
        <p:spPr>
          <a:xfrm>
            <a:off x="822960" y="2697480"/>
            <a:ext cx="758952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Готов ответить на вопросы</a:t>
            </a:r>
            <a:endParaRPr lang="en-US" sz="1600" dirty="0"/>
          </a:p>
          <a:p>
            <a:pPr marL="0" indent="0">
              <a:buNone/>
            </a:pPr>
            <a:r>
              <a:rPr lang="ru-RU" altLang="en-US">
                <a:solidFill>
                  <a:srgbClr val="FFFFFF"/>
                </a:solidFill>
                <a:sym typeface="+mn-ea"/>
              </a:rPr>
              <a:t>Рзаева Сабина Намиговна</a:t>
            </a:r>
            <a:r>
              <a:rPr lang="en-US" sz="1600" dirty="0">
                <a:solidFill>
                  <a:srgbClr val="C7D3E0"/>
                </a:solidFill>
              </a:rPr>
              <a:t>, группа ИСП-271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blioteka Official">
  <a:themeElements>
    <a:clrScheme name="Biblioteka Official">
      <a:dk1>
        <a:srgbClr val="15202E"/>
      </a:dk1>
      <a:lt1>
        <a:srgbClr val="FFFFFF"/>
      </a:lt1>
      <a:dk2>
        <a:srgbClr val="1B3A5C"/>
      </a:dk2>
      <a:lt2>
        <a:srgbClr val="EEF2F7"/>
      </a:lt2>
      <a:accent1>
        <a:srgbClr val="1B3A5C"/>
      </a:accent1>
      <a:accent2>
        <a:srgbClr val="2E6DA4"/>
      </a:accent2>
      <a:accent3>
        <a:srgbClr val="B8860B"/>
      </a:accent3>
      <a:accent4>
        <a:srgbClr val="5B7A99"/>
      </a:accent4>
      <a:accent5>
        <a:srgbClr val="8CA6BF"/>
      </a:accent5>
      <a:accent6>
        <a:srgbClr val="C7D3E0"/>
      </a:accent6>
      <a:hlink>
        <a:srgbClr val="2E6DA4"/>
      </a:hlink>
      <a:folHlink>
        <a:srgbClr val="5B7A99"/>
      </a:folHlink>
    </a:clrScheme>
    <a:fontScheme name="Biblioteka Offici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iblioteka Official">
  <a:themeElements>
    <a:clrScheme name="Biblioteka Official">
      <a:dk1>
        <a:srgbClr val="15202E"/>
      </a:dk1>
      <a:lt1>
        <a:srgbClr val="FFFFFF"/>
      </a:lt1>
      <a:dk2>
        <a:srgbClr val="1B3A5C"/>
      </a:dk2>
      <a:lt2>
        <a:srgbClr val="EEF2F7"/>
      </a:lt2>
      <a:accent1>
        <a:srgbClr val="1B3A5C"/>
      </a:accent1>
      <a:accent2>
        <a:srgbClr val="2E6DA4"/>
      </a:accent2>
      <a:accent3>
        <a:srgbClr val="B8860B"/>
      </a:accent3>
      <a:accent4>
        <a:srgbClr val="5B7A99"/>
      </a:accent4>
      <a:accent5>
        <a:srgbClr val="8CA6BF"/>
      </a:accent5>
      <a:accent6>
        <a:srgbClr val="C7D3E0"/>
      </a:accent6>
      <a:hlink>
        <a:srgbClr val="2E6DA4"/>
      </a:hlink>
      <a:folHlink>
        <a:srgbClr val="5B7A99"/>
      </a:folHlink>
    </a:clrScheme>
    <a:fontScheme name="Biblioteka Offici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3126</Words>
  <Application>WPS Presentation</Application>
  <PresentationFormat>On-screen Show (16:9)</PresentationFormat>
  <Paragraphs>77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Biblioteka Official</vt:lpstr>
      <vt:lpstr>Информационная система учёта книг в библиотеке</vt:lpstr>
      <vt:lpstr>Актуальность и цель работы</vt:lpstr>
      <vt:lpstr>Задачи работы</vt:lpstr>
      <vt:lpstr>Модульная архитектура системы</vt:lpstr>
      <vt:lpstr>Структура базы данных</vt:lpstr>
      <vt:lpstr>Административный интерфейс</vt:lpstr>
      <vt:lpstr>Подсистема каталогизации</vt:lpstr>
      <vt:lpstr>Книговыдача и каскадное изменение статусов</vt:lpstr>
      <vt:lpstr>Показатели деятельности библиотеки</vt:lpstr>
      <vt:lpstr>Программный интерфейс REST</vt:lpstr>
      <vt:lpstr>Тестирование системы</vt:lpstr>
      <vt:lpstr>Итоги и перспективы развития</vt:lpstr>
      <vt:lpstr>Благодарю за внимание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учёта книг в библиотеке</dc:title>
  <dc:creator>Озеров Георгий Максимович</dc:creator>
  <dc:subject>PptxGenJS Presentation</dc:subject>
  <cp:lastModifiedBy>afeaa</cp:lastModifiedBy>
  <cp:revision>3</cp:revision>
  <dcterms:created xsi:type="dcterms:W3CDTF">2026-10-30T13:31:00Z</dcterms:created>
  <dcterms:modified xsi:type="dcterms:W3CDTF">2026-10-30T13:40:40Z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C7692C9BFF60467CB2FEE02714F406F8_12</vt:lpwstr>
  </property>
  <property fmtid="{D5CDD505-2E9C-101B-9397-08002B2CF9AE}" pid="3" name="KSOProductBuildVer">
    <vt:lpwstr>1049-12.2.0.23206</vt:lpwstr>
  </property>
</Properties>
</file>